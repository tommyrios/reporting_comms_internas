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8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9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0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Segmentación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1391"/>
              </a:solidFill>
              <a:effectLst/>
            </c:spPr>
          </c:dPt>
          <c:dPt>
            <c:idx val="1"/>
            <c:bubble3D val="0"/>
            <c:spPr>
              <a:solidFill>
                <a:srgbClr val="85C8FF"/>
              </a:solidFill>
              <a:effectLst/>
            </c:spPr>
          </c:dPt>
          <c:dPt>
            <c:idx val="2"/>
            <c:bubble3D val="0"/>
            <c:spPr>
              <a:solidFill>
                <a:srgbClr val="8BE1E9"/>
              </a:solidFill>
              <a:effectLst/>
            </c:spPr>
          </c:dPt>
          <c:dPt>
            <c:idx val="3"/>
            <c:bubble3D val="0"/>
            <c:spPr>
              <a:solidFill>
                <a:srgbClr val="88E783"/>
              </a:solidFill>
              <a:effectLst/>
            </c:spPr>
          </c:dPt>
          <c:dPt>
            <c:idx val="4"/>
            <c:bubble3D val="0"/>
            <c:spPr>
              <a:solidFill>
                <a:srgbClr val="FFE761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Red comercial</c:v>
                </c:pt>
                <c:pt idx="1">
                  <c:v>Staff</c:v>
                </c:pt>
                <c:pt idx="2">
                  <c:v>Sucursales</c:v>
                </c:pt>
                <c:pt idx="3">
                  <c:v>Operaciones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35</c:v>
                </c:pt>
                <c:pt idx="1">
                  <c:v>25</c:v>
                </c:pt>
                <c:pt idx="2">
                  <c:v>20</c:v>
                </c:pt>
                <c:pt idx="3">
                  <c:v>12</c:v>
                </c:pt>
                <c:pt idx="4">
                  <c:v>8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Lat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La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Lat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La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Notas</c:v>
                </c:pt>
              </c:strCache>
            </c:strRef>
          </c:tx>
          <c:spPr>
            <a:solidFill>
              <a:srgbClr val="85C8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139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2026-01</c:v>
                  </c:pt>
                  <c:pt idx="1">
                    <c:v>2026-02</c:v>
                  </c:pt>
                  <c:pt idx="2">
                    <c:v>2026-03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29</c:v>
                </c:pt>
                <c:pt idx="1">
                  <c:v>31</c:v>
                </c:pt>
                <c:pt idx="2">
                  <c:v>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139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Lat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La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Ejes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1391"/>
              </a:solidFill>
              <a:effectLst/>
            </c:spPr>
          </c:dPt>
          <c:dPt>
            <c:idx val="1"/>
            <c:bubble3D val="0"/>
            <c:spPr>
              <a:solidFill>
                <a:srgbClr val="85C8FF"/>
              </a:solidFill>
              <a:effectLst/>
            </c:spPr>
          </c:dPt>
          <c:dPt>
            <c:idx val="2"/>
            <c:bubble3D val="0"/>
            <c:spPr>
              <a:solidFill>
                <a:srgbClr val="8BE1E9"/>
              </a:solidFill>
              <a:effectLst/>
            </c:spPr>
          </c:dPt>
          <c:dPt>
            <c:idx val="3"/>
            <c:bubble3D val="0"/>
            <c:spPr>
              <a:solidFill>
                <a:srgbClr val="88E783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Negocio</c:v>
                </c:pt>
                <c:pt idx="1">
                  <c:v>Personas</c:v>
                </c:pt>
                <c:pt idx="2">
                  <c:v>Cultura</c:v>
                </c:pt>
                <c:pt idx="3">
                  <c:v>Riesgo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Balance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1391"/>
              </a:solidFill>
              <a:effectLst/>
            </c:spPr>
          </c:dPt>
          <c:dPt>
            <c:idx val="1"/>
            <c:bubble3D val="0"/>
            <c:spPr>
              <a:solidFill>
                <a:srgbClr val="85C8FF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1391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1391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Institucional</c:v>
                </c:pt>
                <c:pt idx="1">
                  <c:v>Transaccional / talento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62</c:v>
                </c:pt>
                <c:pt idx="1">
                  <c:v>38</c:v>
                </c:pt>
              </c:numCache>
            </c:numRef>
          </c:val>
        </c:ser>
        <c:firstSliceAng val="0"/>
        <c:holeSize val="7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Áreas</c:v>
                </c:pt>
              </c:strCache>
            </c:strRef>
          </c:tx>
          <c:spPr>
            <a:solidFill>
              <a:srgbClr val="85C8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139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Retail</c:v>
                  </c:pt>
                  <c:pt idx="1">
                    <c:v>Corporate</c:v>
                  </c:pt>
                  <c:pt idx="2">
                    <c:v>Soporte</c:v>
                  </c:pt>
                  <c:pt idx="3">
                    <c:v>Otros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27</c:v>
                </c:pt>
                <c:pt idx="2">
                  <c:v>19</c:v>
                </c:pt>
                <c:pt idx="3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139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000000"/>
                </a:solidFill>
                <a:latin typeface="Lat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La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Clics</c:v>
                </c:pt>
              </c:strCache>
            </c:strRef>
          </c:tx>
          <c:spPr>
            <a:solidFill>
              <a:srgbClr val="00139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812</c:v>
                </c:pt>
                <c:pt idx="1">
                  <c:v>694</c:v>
                </c:pt>
                <c:pt idx="2">
                  <c:v>650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Lat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La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Lecturas únicas</c:v>
                </c:pt>
              </c:strCache>
            </c:strRef>
          </c:tx>
          <c:spPr>
            <a:solidFill>
              <a:srgbClr val="85C8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139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Resultados comerciales marzo</c:v>
                  </c:pt>
                  <c:pt idx="1">
                    <c:v>Historias de clientes</c:v>
                  </c:pt>
                  <c:pt idx="2">
                    <c:v>Novedades de producto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1450</c:v>
                </c:pt>
                <c:pt idx="1">
                  <c:v>1202</c:v>
                </c:pt>
                <c:pt idx="2">
                  <c:v>1110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139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000000"/>
                </a:solidFill>
                <a:latin typeface="Lat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La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Participantes</c:v>
                </c:pt>
              </c:strCache>
            </c:strRef>
          </c:tx>
          <c:spPr>
            <a:solidFill>
              <a:srgbClr val="00139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139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Townhall</c:v>
                  </c:pt>
                  <c:pt idx="1">
                    <c:v>Capacitación</c:v>
                  </c:pt>
                  <c:pt idx="2">
                    <c:v>Workshop</c:v>
                  </c:pt>
                  <c:pt idx="3">
                    <c:v>Comunidad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240</c:v>
                </c:pt>
                <c:pt idx="1">
                  <c:v>180</c:v>
                </c:pt>
                <c:pt idx="2">
                  <c:v>120</c:v>
                </c:pt>
                <c:pt idx="3">
                  <c:v>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139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000000"/>
                </a:solidFill>
                <a:latin typeface="Lat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La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3" Type="http://schemas.openxmlformats.org/officeDocument/2006/relationships/chart" Target="/ppt/charts/chart4.xml"/><Relationship Id="rId1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3" Type="http://schemas.openxmlformats.org/officeDocument/2006/relationships/chart" Target="/ppt/charts/chart6.xml"/><Relationship Id="rId4" Type="http://schemas.openxmlformats.org/officeDocument/2006/relationships/chart" Target="/ppt/charts/chart7.xml"/><Relationship Id="rId1" Type="http://schemas.openxmlformats.org/officeDocument/2006/relationships/image" Target="../media/image-4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8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9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0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3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reporting_comms_internas/reporting_comms_internas/assets/brand/bbva_logo_whi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27080" y="182880"/>
            <a:ext cx="621792" cy="20116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543800" y="1051560"/>
            <a:ext cx="2560320" cy="1920240"/>
          </a:xfrm>
          <a:prstGeom prst="roundRect">
            <a:avLst>
              <a:gd name="adj" fmla="val 8571"/>
            </a:avLst>
          </a:prstGeom>
          <a:solidFill>
            <a:srgbClr val="85C8FF">
              <a:alpha val="92000"/>
            </a:srgbClr>
          </a:solidFill>
          <a:ln w="1524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235440" y="1783080"/>
            <a:ext cx="256032" cy="256032"/>
          </a:xfrm>
          <a:prstGeom prst="ellipse">
            <a:avLst/>
          </a:prstGeom>
          <a:solidFill>
            <a:srgbClr val="85C8FF"/>
          </a:solidFill>
          <a:ln w="12700">
            <a:solidFill>
              <a:srgbClr val="85C8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38912" y="18745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2026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38912" y="2395728"/>
            <a:ext cx="7315200" cy="0"/>
          </a:xfrm>
          <a:prstGeom prst="line">
            <a:avLst/>
          </a:prstGeom>
          <a:noFill/>
          <a:ln w="12700">
            <a:solidFill>
              <a:srgbClr val="FFFFFF">
                <a:alpha val="65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38912" y="2724912"/>
            <a:ext cx="5394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Comunicaciones Internas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Informe de gestión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457200" y="544068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reporting_comms_internas/reporting_comms_internas/assets/brand/bbva_logo_blu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27080" y="182880"/>
            <a:ext cx="621792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25603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RESUMEN EJECUTIVO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512064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¿Cómo nos fue? CI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66928" y="1243584"/>
            <a:ext cx="144475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66928" y="1243584"/>
            <a:ext cx="1444752" cy="64008"/>
          </a:xfrm>
          <a:prstGeom prst="rect">
            <a:avLst/>
          </a:prstGeom>
          <a:solidFill>
            <a:srgbClr val="85C8FF"/>
          </a:solidFill>
          <a:ln w="12700">
            <a:solidFill>
              <a:srgbClr val="85C8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4944" y="1353312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Comunicaciones push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94944" y="151790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120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94944" y="190195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Período actual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130552" y="1243584"/>
            <a:ext cx="144475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130552" y="1243584"/>
            <a:ext cx="1444752" cy="64008"/>
          </a:xfrm>
          <a:prstGeom prst="rect">
            <a:avLst/>
          </a:prstGeom>
          <a:solidFill>
            <a:srgbClr val="8BE1E9"/>
          </a:solidFill>
          <a:ln w="12700">
            <a:solidFill>
              <a:srgbClr val="8BE1E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258568" y="1353312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Apertura promedio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258568" y="151790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41%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2258568" y="190195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Tasa media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694176" y="1243584"/>
            <a:ext cx="144475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94176" y="1243584"/>
            <a:ext cx="1444752" cy="64008"/>
          </a:xfrm>
          <a:prstGeom prst="rect">
            <a:avLst/>
          </a:prstGeom>
          <a:solidFill>
            <a:srgbClr val="88E783"/>
          </a:solidFill>
          <a:ln w="12700">
            <a:solidFill>
              <a:srgbClr val="88E78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22192" y="1353312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Interacción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822192" y="151790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14%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3822192" y="190195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Tasa media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257800" y="1243584"/>
            <a:ext cx="144475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257800" y="1243584"/>
            <a:ext cx="1444752" cy="64008"/>
          </a:xfrm>
          <a:prstGeom prst="rect">
            <a:avLst/>
          </a:prstGeom>
          <a:solidFill>
            <a:srgbClr val="FFE761"/>
          </a:solidFill>
          <a:ln w="12700">
            <a:solidFill>
              <a:srgbClr val="FFE76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85816" y="1353312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Lecturas promedio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5385816" y="151790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128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5385816" y="190195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Por nota pull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66928" y="2304288"/>
            <a:ext cx="3246120" cy="3493008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68096" y="254203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Lectura ejecutiva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768096" y="2798064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0E4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El período mostró mejora en volumen y estabilidad en métricas de lectura.</a:t>
            </a:r>
            <a:endParaRPr lang="en-US" sz="1450" dirty="0"/>
          </a:p>
        </p:txBody>
      </p:sp>
      <p:sp>
        <p:nvSpPr>
          <p:cNvPr id="28" name="Shape 25"/>
          <p:cNvSpPr/>
          <p:nvPr/>
        </p:nvSpPr>
        <p:spPr>
          <a:xfrm>
            <a:off x="786384" y="3959352"/>
            <a:ext cx="91440" cy="91440"/>
          </a:xfrm>
          <a:prstGeom prst="ellipse">
            <a:avLst/>
          </a:prstGeom>
          <a:solidFill>
            <a:srgbClr val="001391"/>
          </a:solidFill>
          <a:ln w="12700">
            <a:solidFill>
              <a:srgbClr val="00139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32688" y="3913632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060E4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Aumentó el volumen de comunicaciones push.</a:t>
            </a:r>
            <a:endParaRPr lang="en-US" sz="820" dirty="0"/>
          </a:p>
        </p:txBody>
      </p:sp>
      <p:sp>
        <p:nvSpPr>
          <p:cNvPr id="30" name="Shape 27"/>
          <p:cNvSpPr/>
          <p:nvPr/>
        </p:nvSpPr>
        <p:spPr>
          <a:xfrm>
            <a:off x="786384" y="4343400"/>
            <a:ext cx="91440" cy="91440"/>
          </a:xfrm>
          <a:prstGeom prst="ellipse">
            <a:avLst/>
          </a:prstGeom>
          <a:solidFill>
            <a:srgbClr val="85C8FF"/>
          </a:solidFill>
          <a:ln w="12700">
            <a:solidFill>
              <a:srgbClr val="85C8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32688" y="429768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0E4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 sostuvo la lectura promedio por nota.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005072" y="2304288"/>
            <a:ext cx="2606040" cy="3493008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005072" y="2304288"/>
            <a:ext cx="2606040" cy="530352"/>
          </a:xfrm>
          <a:prstGeom prst="roundRect">
            <a:avLst>
              <a:gd name="adj" fmla="val 10345"/>
            </a:avLst>
          </a:prstGeom>
          <a:solidFill>
            <a:srgbClr val="001391"/>
          </a:solidFill>
          <a:ln w="12700">
            <a:solidFill>
              <a:srgbClr val="00139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169664" y="2404872"/>
            <a:ext cx="22768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SEGMENTACIÓN DE AUDIENCIA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4169664" y="2578608"/>
            <a:ext cx="2276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(promedio del período)</a:t>
            </a:r>
            <a:endParaRPr lang="en-US" sz="750" dirty="0"/>
          </a:p>
        </p:txBody>
      </p:sp>
      <p:graphicFrame>
        <p:nvGraphicFramePr>
          <p:cNvPr id="36" name="Chart 0" descr=""/>
          <p:cNvGraphicFramePr/>
          <p:nvPr/>
        </p:nvGraphicFramePr>
        <p:xfrm>
          <a:off x="4187952" y="2889504"/>
          <a:ext cx="1508760" cy="15361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7" name="Shape 33"/>
          <p:cNvSpPr/>
          <p:nvPr/>
        </p:nvSpPr>
        <p:spPr>
          <a:xfrm>
            <a:off x="4224528" y="4544568"/>
            <a:ext cx="91440" cy="91440"/>
          </a:xfrm>
          <a:prstGeom prst="ellipse">
            <a:avLst/>
          </a:prstGeom>
          <a:solidFill>
            <a:srgbClr val="001391"/>
          </a:solidFill>
          <a:ln w="12700">
            <a:solidFill>
              <a:srgbClr val="001391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370832" y="4498848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060E4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Red comercial  35%</a:t>
            </a:r>
            <a:endParaRPr lang="en-US" sz="870" dirty="0"/>
          </a:p>
        </p:txBody>
      </p:sp>
      <p:sp>
        <p:nvSpPr>
          <p:cNvPr id="39" name="Shape 35"/>
          <p:cNvSpPr/>
          <p:nvPr/>
        </p:nvSpPr>
        <p:spPr>
          <a:xfrm>
            <a:off x="4224528" y="4800600"/>
            <a:ext cx="91440" cy="91440"/>
          </a:xfrm>
          <a:prstGeom prst="ellipse">
            <a:avLst/>
          </a:prstGeom>
          <a:solidFill>
            <a:srgbClr val="85C8FF"/>
          </a:solidFill>
          <a:ln w="12700">
            <a:solidFill>
              <a:srgbClr val="85C8FF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4370832" y="4754880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060E4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Staff  25%</a:t>
            </a:r>
            <a:endParaRPr lang="en-US" sz="870" dirty="0"/>
          </a:p>
        </p:txBody>
      </p:sp>
      <p:sp>
        <p:nvSpPr>
          <p:cNvPr id="41" name="Shape 37"/>
          <p:cNvSpPr/>
          <p:nvPr/>
        </p:nvSpPr>
        <p:spPr>
          <a:xfrm>
            <a:off x="4224528" y="5056632"/>
            <a:ext cx="91440" cy="91440"/>
          </a:xfrm>
          <a:prstGeom prst="ellipse">
            <a:avLst/>
          </a:prstGeom>
          <a:solidFill>
            <a:srgbClr val="8BE1E9"/>
          </a:solidFill>
          <a:ln w="12700">
            <a:solidFill>
              <a:srgbClr val="8BE1E9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4370832" y="5010912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060E4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Sucursales  20%</a:t>
            </a:r>
            <a:endParaRPr lang="en-US" sz="870" dirty="0"/>
          </a:p>
        </p:txBody>
      </p:sp>
      <p:sp>
        <p:nvSpPr>
          <p:cNvPr id="43" name="Shape 39"/>
          <p:cNvSpPr/>
          <p:nvPr/>
        </p:nvSpPr>
        <p:spPr>
          <a:xfrm>
            <a:off x="4224528" y="5312664"/>
            <a:ext cx="91440" cy="91440"/>
          </a:xfrm>
          <a:prstGeom prst="ellipse">
            <a:avLst/>
          </a:prstGeom>
          <a:solidFill>
            <a:srgbClr val="88E783"/>
          </a:solidFill>
          <a:ln w="12700">
            <a:solidFill>
              <a:srgbClr val="88E783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4370832" y="5266944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060E4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Operaciones  12%</a:t>
            </a:r>
            <a:endParaRPr lang="en-US" sz="870" dirty="0"/>
          </a:p>
        </p:txBody>
      </p:sp>
      <p:sp>
        <p:nvSpPr>
          <p:cNvPr id="45" name="Shape 41"/>
          <p:cNvSpPr/>
          <p:nvPr/>
        </p:nvSpPr>
        <p:spPr>
          <a:xfrm>
            <a:off x="6821424" y="2304288"/>
            <a:ext cx="4754880" cy="3493008"/>
          </a:xfrm>
          <a:prstGeom prst="roundRect">
            <a:avLst>
              <a:gd name="adj" fmla="val 1571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6821424" y="2304288"/>
            <a:ext cx="4754880" cy="530352"/>
          </a:xfrm>
          <a:prstGeom prst="roundRect">
            <a:avLst>
              <a:gd name="adj" fmla="val 10345"/>
            </a:avLst>
          </a:prstGeom>
          <a:solidFill>
            <a:srgbClr val="001391"/>
          </a:solidFill>
          <a:ln w="12700">
            <a:solidFill>
              <a:srgbClr val="001391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6986016" y="2404872"/>
            <a:ext cx="44256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VOLUMEN DEL PERÍODO Y COMPARATIVO</a:t>
            </a:r>
            <a:endParaRPr lang="en-US" sz="1050" dirty="0"/>
          </a:p>
        </p:txBody>
      </p:sp>
      <p:sp>
        <p:nvSpPr>
          <p:cNvPr id="48" name="Text 44"/>
          <p:cNvSpPr/>
          <p:nvPr/>
        </p:nvSpPr>
        <p:spPr>
          <a:xfrm>
            <a:off x="6986016" y="2578608"/>
            <a:ext cx="4425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(si no hay histórico, se mantiene como referencia simple)</a:t>
            </a:r>
            <a:endParaRPr lang="en-US" sz="750" dirty="0"/>
          </a:p>
        </p:txBody>
      </p:sp>
      <p:graphicFrame>
        <p:nvGraphicFramePr>
          <p:cNvPr id="49" name="Chart 1" descr=""/>
          <p:cNvGraphicFramePr/>
          <p:nvPr/>
        </p:nvGraphicFramePr>
        <p:xfrm>
          <a:off x="7059168" y="2907792"/>
          <a:ext cx="292608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0" name="Text 45"/>
          <p:cNvSpPr/>
          <p:nvPr/>
        </p:nvSpPr>
        <p:spPr>
          <a:xfrm>
            <a:off x="10195560" y="29626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6536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98</a:t>
            </a:r>
            <a:endParaRPr lang="en-US" sz="1800" dirty="0"/>
          </a:p>
        </p:txBody>
      </p:sp>
      <p:sp>
        <p:nvSpPr>
          <p:cNvPr id="51" name="Text 46"/>
          <p:cNvSpPr/>
          <p:nvPr/>
        </p:nvSpPr>
        <p:spPr>
          <a:xfrm>
            <a:off x="10195560" y="3236976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Período anterior</a:t>
            </a:r>
            <a:endParaRPr lang="en-US" sz="850" dirty="0"/>
          </a:p>
        </p:txBody>
      </p:sp>
      <p:sp>
        <p:nvSpPr>
          <p:cNvPr id="52" name="Text 47"/>
          <p:cNvSpPr/>
          <p:nvPr/>
        </p:nvSpPr>
        <p:spPr>
          <a:xfrm>
            <a:off x="10195560" y="36758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22.4%</a:t>
            </a:r>
            <a:endParaRPr lang="en-US" sz="2000" dirty="0"/>
          </a:p>
        </p:txBody>
      </p:sp>
      <p:sp>
        <p:nvSpPr>
          <p:cNvPr id="53" name="Text 48"/>
          <p:cNvSpPr/>
          <p:nvPr/>
        </p:nvSpPr>
        <p:spPr>
          <a:xfrm>
            <a:off x="10195560" y="3968496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Variación</a:t>
            </a:r>
            <a:endParaRPr lang="en-US" sz="850" dirty="0"/>
          </a:p>
        </p:txBody>
      </p:sp>
      <p:sp>
        <p:nvSpPr>
          <p:cNvPr id="54" name="Text 49"/>
          <p:cNvSpPr/>
          <p:nvPr/>
        </p:nvSpPr>
        <p:spPr>
          <a:xfrm>
            <a:off x="10058400" y="4498848"/>
            <a:ext cx="1234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060E4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El volumen crece con foco en agenda trimestral.</a:t>
            </a:r>
            <a:endParaRPr lang="en-US" sz="870" dirty="0"/>
          </a:p>
        </p:txBody>
      </p:sp>
      <p:sp>
        <p:nvSpPr>
          <p:cNvPr id="55" name="Text 50"/>
          <p:cNvSpPr/>
          <p:nvPr/>
        </p:nvSpPr>
        <p:spPr>
          <a:xfrm>
            <a:off x="658368" y="6419088"/>
            <a:ext cx="10844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Síntesis del desempeño general del período.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reporting_comms_internas/reporting_comms_internas/assets/brand/bbva_logo_blu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27080" y="182880"/>
            <a:ext cx="621792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25603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CANALES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512064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Gestión del plan CI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66928" y="1280160"/>
            <a:ext cx="658368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66928" y="1280160"/>
            <a:ext cx="6583680" cy="530352"/>
          </a:xfrm>
          <a:prstGeom prst="roundRect">
            <a:avLst>
              <a:gd name="adj" fmla="val 10345"/>
            </a:avLst>
          </a:prstGeom>
          <a:solidFill>
            <a:srgbClr val="001391"/>
          </a:solidFill>
          <a:ln w="12700">
            <a:solidFill>
              <a:srgbClr val="00139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380744"/>
            <a:ext cx="62544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MAIL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31520" y="1554480"/>
            <a:ext cx="6254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(evolución del volumen y saturación)</a:t>
            </a:r>
            <a:endParaRPr lang="en-US" sz="7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804672" y="1828800"/>
          <a:ext cx="393192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4983480" y="1828800"/>
            <a:ext cx="1737360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983480" y="1828800"/>
            <a:ext cx="1737360" cy="64008"/>
          </a:xfrm>
          <a:prstGeom prst="rect">
            <a:avLst/>
          </a:prstGeom>
          <a:solidFill>
            <a:srgbClr val="85C8FF"/>
          </a:solidFill>
          <a:ln w="12700">
            <a:solidFill>
              <a:srgbClr val="85C8F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111496" y="1938528"/>
            <a:ext cx="14813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Envíos del período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5111496" y="2103120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120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111496" y="2523744"/>
            <a:ext cx="1481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Total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4983480" y="2852928"/>
            <a:ext cx="1737360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983480" y="2852928"/>
            <a:ext cx="1737360" cy="64008"/>
          </a:xfrm>
          <a:prstGeom prst="rect">
            <a:avLst/>
          </a:prstGeom>
          <a:solidFill>
            <a:srgbClr val="8BE1E9"/>
          </a:solidFill>
          <a:ln w="12700">
            <a:solidFill>
              <a:srgbClr val="8BE1E9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111496" y="2962656"/>
            <a:ext cx="14813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todo BBVA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5111496" y="3127248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68%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5111496" y="3547872"/>
            <a:ext cx="14813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Share de alcance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804672" y="4389120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060E4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 priorizó cobertura operativa con segmentación.</a:t>
            </a:r>
            <a:endParaRPr lang="en-US" sz="1120" dirty="0"/>
          </a:p>
        </p:txBody>
      </p:sp>
      <p:sp>
        <p:nvSpPr>
          <p:cNvPr id="21" name="Shape 17"/>
          <p:cNvSpPr/>
          <p:nvPr/>
        </p:nvSpPr>
        <p:spPr>
          <a:xfrm>
            <a:off x="7333488" y="1280160"/>
            <a:ext cx="4242816" cy="4526280"/>
          </a:xfrm>
          <a:prstGeom prst="roundRect">
            <a:avLst>
              <a:gd name="adj" fmla="val 1293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333488" y="1280160"/>
            <a:ext cx="4242816" cy="530352"/>
          </a:xfrm>
          <a:prstGeom prst="roundRect">
            <a:avLst>
              <a:gd name="adj" fmla="val 10345"/>
            </a:avLst>
          </a:prstGeom>
          <a:solidFill>
            <a:srgbClr val="001391"/>
          </a:solidFill>
          <a:ln w="12700">
            <a:solidFill>
              <a:srgbClr val="001391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498080" y="1380744"/>
            <a:ext cx="39136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INTRANET / SITE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7498080" y="1554480"/>
            <a:ext cx="39136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(volumen y lectura)</a:t>
            </a:r>
            <a:endParaRPr lang="en-US" sz="750" dirty="0"/>
          </a:p>
        </p:txBody>
      </p:sp>
      <p:graphicFrame>
        <p:nvGraphicFramePr>
          <p:cNvPr id="25" name="Chart 1" descr=""/>
          <p:cNvGraphicFramePr/>
          <p:nvPr/>
        </p:nvGraphicFramePr>
        <p:xfrm>
          <a:off x="7571232" y="1828800"/>
          <a:ext cx="269748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6" name="Shape 21"/>
          <p:cNvSpPr/>
          <p:nvPr/>
        </p:nvSpPr>
        <p:spPr>
          <a:xfrm>
            <a:off x="10469880" y="1828800"/>
            <a:ext cx="868680" cy="877824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10469880" y="1828800"/>
            <a:ext cx="868680" cy="64008"/>
          </a:xfrm>
          <a:prstGeom prst="rect">
            <a:avLst/>
          </a:prstGeom>
          <a:solidFill>
            <a:srgbClr val="88E783"/>
          </a:solidFill>
          <a:ln w="12700">
            <a:solidFill>
              <a:srgbClr val="88E783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10597896" y="1938528"/>
            <a:ext cx="612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Notas</a:t>
            </a:r>
            <a:endParaRPr lang="en-US" sz="850" dirty="0"/>
          </a:p>
        </p:txBody>
      </p:sp>
      <p:sp>
        <p:nvSpPr>
          <p:cNvPr id="29" name="Text 24"/>
          <p:cNvSpPr/>
          <p:nvPr/>
        </p:nvSpPr>
        <p:spPr>
          <a:xfrm>
            <a:off x="10597896" y="2103120"/>
            <a:ext cx="612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35</a:t>
            </a:r>
            <a:endParaRPr lang="en-US" sz="1800" dirty="0"/>
          </a:p>
        </p:txBody>
      </p:sp>
      <p:sp>
        <p:nvSpPr>
          <p:cNvPr id="30" name="Text 25"/>
          <p:cNvSpPr/>
          <p:nvPr/>
        </p:nvSpPr>
        <p:spPr>
          <a:xfrm>
            <a:off x="10597896" y="2523744"/>
            <a:ext cx="612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Total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10469880" y="2852928"/>
            <a:ext cx="868680" cy="877824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10469880" y="2852928"/>
            <a:ext cx="868680" cy="64008"/>
          </a:xfrm>
          <a:prstGeom prst="rect">
            <a:avLst/>
          </a:prstGeom>
          <a:solidFill>
            <a:srgbClr val="FFE761"/>
          </a:solidFill>
          <a:ln w="12700">
            <a:solidFill>
              <a:srgbClr val="FFE761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10597896" y="2962656"/>
            <a:ext cx="612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Open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10597896" y="3127248"/>
            <a:ext cx="612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41%</a:t>
            </a:r>
            <a:endParaRPr lang="en-US" sz="1800" dirty="0"/>
          </a:p>
        </p:txBody>
      </p:sp>
      <p:sp>
        <p:nvSpPr>
          <p:cNvPr id="35" name="Text 30"/>
          <p:cNvSpPr/>
          <p:nvPr/>
        </p:nvSpPr>
        <p:spPr>
          <a:xfrm>
            <a:off x="10597896" y="3547872"/>
            <a:ext cx="612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Prom.</a:t>
            </a:r>
            <a:endParaRPr lang="en-US" sz="850" dirty="0"/>
          </a:p>
        </p:txBody>
      </p:sp>
      <p:sp>
        <p:nvSpPr>
          <p:cNvPr id="36" name="Text 31"/>
          <p:cNvSpPr/>
          <p:nvPr/>
        </p:nvSpPr>
        <p:spPr>
          <a:xfrm>
            <a:off x="7571232" y="4160520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060E4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El canal pull sostuvo continuidad editorial.</a:t>
            </a:r>
            <a:endParaRPr lang="en-US" sz="1120" dirty="0"/>
          </a:p>
        </p:txBody>
      </p:sp>
      <p:sp>
        <p:nvSpPr>
          <p:cNvPr id="37" name="Text 32"/>
          <p:cNvSpPr/>
          <p:nvPr/>
        </p:nvSpPr>
        <p:spPr>
          <a:xfrm>
            <a:off x="658368" y="6419088"/>
            <a:ext cx="10844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 ejecución del plan mostró consistencia mensual.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reporting_comms_internas/reporting_comms_internas/assets/brand/bbva_logo_blu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27080" y="182880"/>
            <a:ext cx="621792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25603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CONTENIDO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512064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Mix de contenidos y ejes estratégicos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66928" y="1280160"/>
            <a:ext cx="3547872" cy="4526280"/>
          </a:xfrm>
          <a:prstGeom prst="roundRect">
            <a:avLst>
              <a:gd name="adj" fmla="val 1546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66928" y="1280160"/>
            <a:ext cx="3547872" cy="530352"/>
          </a:xfrm>
          <a:prstGeom prst="roundRect">
            <a:avLst>
              <a:gd name="adj" fmla="val 10345"/>
            </a:avLst>
          </a:prstGeom>
          <a:solidFill>
            <a:srgbClr val="001391"/>
          </a:solidFill>
          <a:ln w="12700">
            <a:solidFill>
              <a:srgbClr val="00139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380744"/>
            <a:ext cx="3218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EJES ESTRATÉGICOS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31520" y="1554480"/>
            <a:ext cx="32186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(participación promedio)</a:t>
            </a:r>
            <a:endParaRPr lang="en-US" sz="7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86384" y="1828800"/>
          <a:ext cx="178308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2423160" y="1929384"/>
            <a:ext cx="91440" cy="91440"/>
          </a:xfrm>
          <a:prstGeom prst="ellipse">
            <a:avLst/>
          </a:prstGeom>
          <a:solidFill>
            <a:srgbClr val="001391"/>
          </a:solidFill>
          <a:ln w="12700">
            <a:solidFill>
              <a:srgbClr val="00139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569464" y="1883664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060E4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Negocio 40%</a:t>
            </a:r>
            <a:endParaRPr lang="en-US" sz="870" dirty="0"/>
          </a:p>
        </p:txBody>
      </p:sp>
      <p:sp>
        <p:nvSpPr>
          <p:cNvPr id="12" name="Shape 8"/>
          <p:cNvSpPr/>
          <p:nvPr/>
        </p:nvSpPr>
        <p:spPr>
          <a:xfrm>
            <a:off x="2423160" y="2185416"/>
            <a:ext cx="91440" cy="91440"/>
          </a:xfrm>
          <a:prstGeom prst="ellipse">
            <a:avLst/>
          </a:prstGeom>
          <a:solidFill>
            <a:srgbClr val="85C8FF"/>
          </a:solidFill>
          <a:ln w="12700">
            <a:solidFill>
              <a:srgbClr val="85C8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569464" y="2139696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060E4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Personas 30%</a:t>
            </a:r>
            <a:endParaRPr lang="en-US" sz="870" dirty="0"/>
          </a:p>
        </p:txBody>
      </p:sp>
      <p:sp>
        <p:nvSpPr>
          <p:cNvPr id="14" name="Shape 10"/>
          <p:cNvSpPr/>
          <p:nvPr/>
        </p:nvSpPr>
        <p:spPr>
          <a:xfrm>
            <a:off x="2423160" y="2441448"/>
            <a:ext cx="91440" cy="91440"/>
          </a:xfrm>
          <a:prstGeom prst="ellipse">
            <a:avLst/>
          </a:prstGeom>
          <a:solidFill>
            <a:srgbClr val="8BE1E9"/>
          </a:solidFill>
          <a:ln w="12700">
            <a:solidFill>
              <a:srgbClr val="8BE1E9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569464" y="2395728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060E4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Cultura 20%</a:t>
            </a:r>
            <a:endParaRPr lang="en-US" sz="870" dirty="0"/>
          </a:p>
        </p:txBody>
      </p:sp>
      <p:sp>
        <p:nvSpPr>
          <p:cNvPr id="16" name="Shape 12"/>
          <p:cNvSpPr/>
          <p:nvPr/>
        </p:nvSpPr>
        <p:spPr>
          <a:xfrm>
            <a:off x="2423160" y="2697480"/>
            <a:ext cx="91440" cy="91440"/>
          </a:xfrm>
          <a:prstGeom prst="ellipse">
            <a:avLst/>
          </a:prstGeom>
          <a:solidFill>
            <a:srgbClr val="88E783"/>
          </a:solidFill>
          <a:ln w="12700">
            <a:solidFill>
              <a:srgbClr val="88E78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569464" y="2651760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060E4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Riesgo 10%</a:t>
            </a:r>
            <a:endParaRPr lang="en-US" sz="870" dirty="0"/>
          </a:p>
        </p:txBody>
      </p:sp>
      <p:sp>
        <p:nvSpPr>
          <p:cNvPr id="18" name="Text 14"/>
          <p:cNvSpPr/>
          <p:nvPr/>
        </p:nvSpPr>
        <p:spPr>
          <a:xfrm>
            <a:off x="804672" y="4389120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060E4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 agenda se concentró en negocio y personas.</a:t>
            </a:r>
            <a:endParaRPr lang="en-US" sz="1080" dirty="0"/>
          </a:p>
        </p:txBody>
      </p:sp>
      <p:sp>
        <p:nvSpPr>
          <p:cNvPr id="19" name="Shape 15"/>
          <p:cNvSpPr/>
          <p:nvPr/>
        </p:nvSpPr>
        <p:spPr>
          <a:xfrm>
            <a:off x="4315968" y="1280160"/>
            <a:ext cx="2907792" cy="452628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315968" y="1280160"/>
            <a:ext cx="2907792" cy="530352"/>
          </a:xfrm>
          <a:prstGeom prst="roundRect">
            <a:avLst>
              <a:gd name="adj" fmla="val 10345"/>
            </a:avLst>
          </a:prstGeom>
          <a:solidFill>
            <a:srgbClr val="001391"/>
          </a:solidFill>
          <a:ln w="12700">
            <a:solidFill>
              <a:srgbClr val="001391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480560" y="1380744"/>
            <a:ext cx="2578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BALANCE INSTITUCIONAL / TRANSACCIONAL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480560" y="1554480"/>
            <a:ext cx="2578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(share del período)</a:t>
            </a:r>
            <a:endParaRPr lang="en-US" sz="750" dirty="0"/>
          </a:p>
        </p:txBody>
      </p:sp>
      <p:graphicFrame>
        <p:nvGraphicFramePr>
          <p:cNvPr id="23" name="Chart 1" descr=""/>
          <p:cNvGraphicFramePr/>
          <p:nvPr/>
        </p:nvGraphicFramePr>
        <p:xfrm>
          <a:off x="4617720" y="1901952"/>
          <a:ext cx="155448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4" name="Shape 19"/>
          <p:cNvSpPr/>
          <p:nvPr/>
        </p:nvSpPr>
        <p:spPr>
          <a:xfrm>
            <a:off x="4572000" y="3776472"/>
            <a:ext cx="91440" cy="91440"/>
          </a:xfrm>
          <a:prstGeom prst="ellipse">
            <a:avLst/>
          </a:prstGeom>
          <a:solidFill>
            <a:srgbClr val="001391"/>
          </a:solidFill>
          <a:ln w="12700">
            <a:solidFill>
              <a:srgbClr val="001391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718304" y="373075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060E4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Institucional 62%</a:t>
            </a:r>
            <a:endParaRPr lang="en-US" sz="1020" dirty="0"/>
          </a:p>
        </p:txBody>
      </p:sp>
      <p:sp>
        <p:nvSpPr>
          <p:cNvPr id="26" name="Shape 21"/>
          <p:cNvSpPr/>
          <p:nvPr/>
        </p:nvSpPr>
        <p:spPr>
          <a:xfrm>
            <a:off x="4572000" y="4142232"/>
            <a:ext cx="91440" cy="91440"/>
          </a:xfrm>
          <a:prstGeom prst="ellipse">
            <a:avLst/>
          </a:prstGeom>
          <a:solidFill>
            <a:srgbClr val="85C8FF"/>
          </a:solidFill>
          <a:ln w="12700">
            <a:solidFill>
              <a:srgbClr val="85C8FF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718304" y="409651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060E4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Transaccional / talento 38%</a:t>
            </a:r>
            <a:endParaRPr lang="en-US" sz="820" dirty="0"/>
          </a:p>
        </p:txBody>
      </p:sp>
      <p:sp>
        <p:nvSpPr>
          <p:cNvPr id="28" name="Shape 23"/>
          <p:cNvSpPr/>
          <p:nvPr/>
        </p:nvSpPr>
        <p:spPr>
          <a:xfrm>
            <a:off x="7424928" y="1280160"/>
            <a:ext cx="4151376" cy="4526280"/>
          </a:xfrm>
          <a:prstGeom prst="roundRect">
            <a:avLst>
              <a:gd name="adj" fmla="val 1322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7424928" y="1280160"/>
            <a:ext cx="4151376" cy="530352"/>
          </a:xfrm>
          <a:prstGeom prst="roundRect">
            <a:avLst>
              <a:gd name="adj" fmla="val 10345"/>
            </a:avLst>
          </a:prstGeom>
          <a:solidFill>
            <a:srgbClr val="001391"/>
          </a:solidFill>
          <a:ln w="12700">
            <a:solidFill>
              <a:srgbClr val="001391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7589520" y="1380744"/>
            <a:ext cx="38221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PEDIDOS POR DIRECCIÓN / ÁREA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7589520" y="1554480"/>
            <a:ext cx="38221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(participación promedio)</a:t>
            </a:r>
            <a:endParaRPr lang="en-US" sz="750" dirty="0"/>
          </a:p>
        </p:txBody>
      </p:sp>
      <p:graphicFrame>
        <p:nvGraphicFramePr>
          <p:cNvPr id="32" name="Chart 2" descr=""/>
          <p:cNvGraphicFramePr/>
          <p:nvPr/>
        </p:nvGraphicFramePr>
        <p:xfrm>
          <a:off x="7699248" y="1828800"/>
          <a:ext cx="3364992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3" name="Text 27"/>
          <p:cNvSpPr/>
          <p:nvPr/>
        </p:nvSpPr>
        <p:spPr>
          <a:xfrm>
            <a:off x="7717536" y="452628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060E4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 estrategia fue consistente con las prioridades del período.</a:t>
            </a:r>
            <a:endParaRPr lang="en-US" sz="1080" dirty="0"/>
          </a:p>
        </p:txBody>
      </p:sp>
      <p:sp>
        <p:nvSpPr>
          <p:cNvPr id="34" name="Text 28"/>
          <p:cNvSpPr/>
          <p:nvPr/>
        </p:nvSpPr>
        <p:spPr>
          <a:xfrm>
            <a:off x="658368" y="6419088"/>
            <a:ext cx="10844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 lectura de contenido cruza ejes temáticos, balance editorial y origen de los pedidos.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reporting_comms_internas/reporting_comms_internas/assets/brand/bbva_logo_blu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27080" y="182880"/>
            <a:ext cx="621792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25603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PUSH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512064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Comunicaciones push de mayor impacto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66928" y="1280160"/>
            <a:ext cx="6473952" cy="4608576"/>
          </a:xfrm>
          <a:prstGeom prst="roundRect">
            <a:avLst>
              <a:gd name="adj" fmla="val 1190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66928" y="1280160"/>
            <a:ext cx="6473952" cy="530352"/>
          </a:xfrm>
          <a:prstGeom prst="roundRect">
            <a:avLst>
              <a:gd name="adj" fmla="val 10345"/>
            </a:avLst>
          </a:prstGeom>
          <a:solidFill>
            <a:srgbClr val="001391"/>
          </a:solidFill>
          <a:ln w="12700">
            <a:solidFill>
              <a:srgbClr val="00139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380744"/>
            <a:ext cx="6144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TOP COMUNICACIONES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31520" y="1554480"/>
            <a:ext cx="61447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(clics e interacción)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804672" y="182880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Comunicación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029200" y="1828800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Clics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806440" y="182880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Interacción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49808" y="2139696"/>
            <a:ext cx="6089904" cy="777240"/>
          </a:xfrm>
          <a:prstGeom prst="rect">
            <a:avLst/>
          </a:prstGeom>
          <a:solidFill>
            <a:srgbClr val="F9FBFD"/>
          </a:solidFill>
          <a:ln w="12700">
            <a:solidFill>
              <a:srgbClr val="F9FB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1248" y="22585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060E4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1. Nuevo onboarding digital</a:t>
            </a:r>
            <a:endParaRPr lang="en-US" sz="1220" dirty="0"/>
          </a:p>
        </p:txBody>
      </p:sp>
      <p:sp>
        <p:nvSpPr>
          <p:cNvPr id="14" name="Text 11"/>
          <p:cNvSpPr/>
          <p:nvPr/>
        </p:nvSpPr>
        <p:spPr>
          <a:xfrm>
            <a:off x="4956048" y="2249424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812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705856" y="2249424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22,4%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41248" y="324612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060E4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2. Beneficios de capacitación</a:t>
            </a:r>
            <a:endParaRPr lang="en-US" sz="1220" dirty="0"/>
          </a:p>
        </p:txBody>
      </p:sp>
      <p:sp>
        <p:nvSpPr>
          <p:cNvPr id="17" name="Text 14"/>
          <p:cNvSpPr/>
          <p:nvPr/>
        </p:nvSpPr>
        <p:spPr>
          <a:xfrm>
            <a:off x="4956048" y="323697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694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705856" y="3236976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19,8%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49808" y="4114800"/>
            <a:ext cx="6089904" cy="777240"/>
          </a:xfrm>
          <a:prstGeom prst="rect">
            <a:avLst/>
          </a:prstGeom>
          <a:solidFill>
            <a:srgbClr val="F9FBFD"/>
          </a:solidFill>
          <a:ln w="12700">
            <a:solidFill>
              <a:srgbClr val="F9FBF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1248" y="423367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060E4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3. Campaña comercial Q1</a:t>
            </a:r>
            <a:endParaRPr lang="en-US" sz="1220" dirty="0"/>
          </a:p>
        </p:txBody>
      </p:sp>
      <p:sp>
        <p:nvSpPr>
          <p:cNvPr id="21" name="Text 18"/>
          <p:cNvSpPr/>
          <p:nvPr/>
        </p:nvSpPr>
        <p:spPr>
          <a:xfrm>
            <a:off x="4956048" y="422452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650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705856" y="4224528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18,1%</a:t>
            </a:r>
            <a:endParaRPr lang="en-US" sz="16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841248" y="4919472"/>
          <a:ext cx="1874520" cy="51206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Text 20"/>
          <p:cNvSpPr/>
          <p:nvPr/>
        </p:nvSpPr>
        <p:spPr>
          <a:xfrm>
            <a:off x="2834640" y="4956048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Ranking visual por clics</a:t>
            </a:r>
            <a:endParaRPr lang="en-US" sz="880" dirty="0"/>
          </a:p>
        </p:txBody>
      </p:sp>
      <p:sp>
        <p:nvSpPr>
          <p:cNvPr id="25" name="Shape 21"/>
          <p:cNvSpPr/>
          <p:nvPr/>
        </p:nvSpPr>
        <p:spPr>
          <a:xfrm>
            <a:off x="7242048" y="1280160"/>
            <a:ext cx="4334256" cy="3273552"/>
          </a:xfrm>
          <a:prstGeom prst="roundRect">
            <a:avLst>
              <a:gd name="adj" fmla="val 1676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242048" y="1280160"/>
            <a:ext cx="4334256" cy="530352"/>
          </a:xfrm>
          <a:prstGeom prst="roundRect">
            <a:avLst>
              <a:gd name="adj" fmla="val 10345"/>
            </a:avLst>
          </a:prstGeom>
          <a:solidFill>
            <a:srgbClr val="001391"/>
          </a:solidFill>
          <a:ln w="12700">
            <a:solidFill>
              <a:srgbClr val="001391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406640" y="1380744"/>
            <a:ext cx="40050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PIEZAS / MINIATURAS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7406640" y="1554480"/>
            <a:ext cx="40050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(reales si el pipeline recibe assets)</a:t>
            </a:r>
            <a:endParaRPr lang="en-US" sz="750" dirty="0"/>
          </a:p>
        </p:txBody>
      </p:sp>
      <p:sp>
        <p:nvSpPr>
          <p:cNvPr id="29" name="Shape 25"/>
          <p:cNvSpPr/>
          <p:nvPr/>
        </p:nvSpPr>
        <p:spPr>
          <a:xfrm>
            <a:off x="7479792" y="1874520"/>
            <a:ext cx="1225296" cy="2231136"/>
          </a:xfrm>
          <a:prstGeom prst="roundRect">
            <a:avLst>
              <a:gd name="adj" fmla="val 2985"/>
            </a:avLst>
          </a:prstGeom>
          <a:solidFill>
            <a:srgbClr val="EEF3F7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662672" y="2880360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Asset visual pendiente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7479792" y="4187952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060E4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Nuevo onboarding digi…</a:t>
            </a:r>
            <a:endParaRPr lang="en-US" sz="730" dirty="0"/>
          </a:p>
        </p:txBody>
      </p:sp>
      <p:sp>
        <p:nvSpPr>
          <p:cNvPr id="32" name="Shape 28"/>
          <p:cNvSpPr/>
          <p:nvPr/>
        </p:nvSpPr>
        <p:spPr>
          <a:xfrm>
            <a:off x="8833104" y="1874520"/>
            <a:ext cx="1225296" cy="2231136"/>
          </a:xfrm>
          <a:prstGeom prst="roundRect">
            <a:avLst>
              <a:gd name="adj" fmla="val 2985"/>
            </a:avLst>
          </a:prstGeom>
          <a:solidFill>
            <a:srgbClr val="EEF3F7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9015984" y="2880360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Asset visual pendiente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8833104" y="4187952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060E4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Beneficios de capacit…</a:t>
            </a:r>
            <a:endParaRPr lang="en-US" sz="730" dirty="0"/>
          </a:p>
        </p:txBody>
      </p:sp>
      <p:sp>
        <p:nvSpPr>
          <p:cNvPr id="35" name="Shape 31"/>
          <p:cNvSpPr/>
          <p:nvPr/>
        </p:nvSpPr>
        <p:spPr>
          <a:xfrm>
            <a:off x="10186416" y="1874520"/>
            <a:ext cx="1225296" cy="2231136"/>
          </a:xfrm>
          <a:prstGeom prst="roundRect">
            <a:avLst>
              <a:gd name="adj" fmla="val 2985"/>
            </a:avLst>
          </a:prstGeom>
          <a:solidFill>
            <a:srgbClr val="EEF3F7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10369296" y="2880360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Asset visual pendiente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10186416" y="4187952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060E4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Campaña comercial Q1</a:t>
            </a:r>
            <a:endParaRPr lang="en-US" sz="780" dirty="0"/>
          </a:p>
        </p:txBody>
      </p:sp>
      <p:sp>
        <p:nvSpPr>
          <p:cNvPr id="38" name="Shape 34"/>
          <p:cNvSpPr/>
          <p:nvPr/>
        </p:nvSpPr>
        <p:spPr>
          <a:xfrm>
            <a:off x="7242048" y="4718304"/>
            <a:ext cx="433425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7461504" y="4919472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Aprendizaje</a:t>
            </a:r>
            <a:endParaRPr lang="en-US" sz="1050" dirty="0"/>
          </a:p>
        </p:txBody>
      </p:sp>
      <p:sp>
        <p:nvSpPr>
          <p:cNvPr id="40" name="Text 36"/>
          <p:cNvSpPr/>
          <p:nvPr/>
        </p:nvSpPr>
        <p:spPr>
          <a:xfrm>
            <a:off x="7461504" y="5120640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0E4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Los mensajes accionables con impacto al negocio capturan mayor respuesta.</a:t>
            </a:r>
            <a:endParaRPr lang="en-US" sz="1050" dirty="0"/>
          </a:p>
        </p:txBody>
      </p:sp>
      <p:sp>
        <p:nvSpPr>
          <p:cNvPr id="41" name="Text 37"/>
          <p:cNvSpPr/>
          <p:nvPr/>
        </p:nvSpPr>
        <p:spPr>
          <a:xfrm>
            <a:off x="658368" y="6419088"/>
            <a:ext cx="10844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Las miniaturas se muestran cuando el pipeline recibe assets de cada comunicación top.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reporting_comms_internas/reporting_comms_internas/assets/brand/bbva_logo_blu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27080" y="182880"/>
            <a:ext cx="621792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25603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INTRANET / SITE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512064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Desempeño pull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66928" y="1280160"/>
            <a:ext cx="6565392" cy="4535424"/>
          </a:xfrm>
          <a:prstGeom prst="roundRect">
            <a:avLst>
              <a:gd name="adj" fmla="val 1210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66928" y="1280160"/>
            <a:ext cx="6565392" cy="530352"/>
          </a:xfrm>
          <a:prstGeom prst="roundRect">
            <a:avLst>
              <a:gd name="adj" fmla="val 10345"/>
            </a:avLst>
          </a:prstGeom>
          <a:solidFill>
            <a:srgbClr val="001391"/>
          </a:solidFill>
          <a:ln w="12700">
            <a:solidFill>
              <a:srgbClr val="00139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380744"/>
            <a:ext cx="62362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TOP NOTAS Y PROFUNDIDAD DE LECTURA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31520" y="1554480"/>
            <a:ext cx="62362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(lecturas únicas)</a:t>
            </a:r>
            <a:endParaRPr lang="en-US" sz="7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841248" y="1847088"/>
          <a:ext cx="429768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5440680" y="193852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60E4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1. Resultados comerciales marzo</a:t>
            </a:r>
            <a:endParaRPr lang="en-US" sz="880" dirty="0"/>
          </a:p>
        </p:txBody>
      </p:sp>
      <p:sp>
        <p:nvSpPr>
          <p:cNvPr id="11" name="Text 7"/>
          <p:cNvSpPr/>
          <p:nvPr/>
        </p:nvSpPr>
        <p:spPr>
          <a:xfrm>
            <a:off x="5440680" y="215798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1.450 únicas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440680" y="234086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1.840 totales</a:t>
            </a:r>
            <a:endParaRPr lang="en-US" sz="830" dirty="0"/>
          </a:p>
        </p:txBody>
      </p:sp>
      <p:sp>
        <p:nvSpPr>
          <p:cNvPr id="13" name="Text 9"/>
          <p:cNvSpPr/>
          <p:nvPr/>
        </p:nvSpPr>
        <p:spPr>
          <a:xfrm>
            <a:off x="5440680" y="285292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60E4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2. Historias de clientes</a:t>
            </a:r>
            <a:endParaRPr lang="en-US" sz="880" dirty="0"/>
          </a:p>
        </p:txBody>
      </p:sp>
      <p:sp>
        <p:nvSpPr>
          <p:cNvPr id="14" name="Text 10"/>
          <p:cNvSpPr/>
          <p:nvPr/>
        </p:nvSpPr>
        <p:spPr>
          <a:xfrm>
            <a:off x="5440680" y="307238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1.202 únicas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440680" y="325526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1.530 totales</a:t>
            </a:r>
            <a:endParaRPr lang="en-US" sz="830" dirty="0"/>
          </a:p>
        </p:txBody>
      </p:sp>
      <p:sp>
        <p:nvSpPr>
          <p:cNvPr id="16" name="Text 12"/>
          <p:cNvSpPr/>
          <p:nvPr/>
        </p:nvSpPr>
        <p:spPr>
          <a:xfrm>
            <a:off x="841248" y="5047488"/>
            <a:ext cx="5577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060E4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El desempeño pull reforzó la agenda de negocio.</a:t>
            </a:r>
            <a:endParaRPr lang="en-US" sz="1080" dirty="0"/>
          </a:p>
        </p:txBody>
      </p:sp>
      <p:sp>
        <p:nvSpPr>
          <p:cNvPr id="17" name="Shape 13"/>
          <p:cNvSpPr/>
          <p:nvPr/>
        </p:nvSpPr>
        <p:spPr>
          <a:xfrm>
            <a:off x="7315200" y="1280160"/>
            <a:ext cx="4261104" cy="4535424"/>
          </a:xfrm>
          <a:prstGeom prst="roundRect">
            <a:avLst>
              <a:gd name="adj" fmla="val 1288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534656" y="157276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Lectura ejecutiva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7534656" y="1847088"/>
            <a:ext cx="3611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0E4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El desempeño pull reforzó la agenda de negocio.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7534656" y="3072384"/>
            <a:ext cx="1078992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534656" y="3072384"/>
            <a:ext cx="1078992" cy="64008"/>
          </a:xfrm>
          <a:prstGeom prst="rect">
            <a:avLst/>
          </a:prstGeom>
          <a:solidFill>
            <a:srgbClr val="85C8FF"/>
          </a:solidFill>
          <a:ln w="12700">
            <a:solidFill>
              <a:srgbClr val="85C8F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662672" y="3182112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Notas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7662672" y="334670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35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7662672" y="3767328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Período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8741664" y="3072384"/>
            <a:ext cx="1078992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741664" y="3072384"/>
            <a:ext cx="1078992" cy="64008"/>
          </a:xfrm>
          <a:prstGeom prst="rect">
            <a:avLst/>
          </a:prstGeom>
          <a:solidFill>
            <a:srgbClr val="8BE1E9"/>
          </a:solidFill>
          <a:ln w="12700">
            <a:solidFill>
              <a:srgbClr val="8BE1E9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869680" y="3182112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Promedio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8869680" y="334670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128</a:t>
            </a:r>
            <a:endParaRPr lang="en-US" sz="1800" dirty="0"/>
          </a:p>
        </p:txBody>
      </p:sp>
      <p:sp>
        <p:nvSpPr>
          <p:cNvPr id="29" name="Text 25"/>
          <p:cNvSpPr/>
          <p:nvPr/>
        </p:nvSpPr>
        <p:spPr>
          <a:xfrm>
            <a:off x="8869680" y="3767328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Lecturas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9948672" y="3072384"/>
            <a:ext cx="1389888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9948672" y="3072384"/>
            <a:ext cx="1389888" cy="64008"/>
          </a:xfrm>
          <a:prstGeom prst="rect">
            <a:avLst/>
          </a:prstGeom>
          <a:solidFill>
            <a:srgbClr val="88E783"/>
          </a:solidFill>
          <a:ln w="12700">
            <a:solidFill>
              <a:srgbClr val="88E783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0076688" y="3182112"/>
            <a:ext cx="11338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Vistas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10076688" y="3346704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4.480</a:t>
            </a:r>
            <a:endParaRPr lang="en-US" sz="1800" dirty="0"/>
          </a:p>
        </p:txBody>
      </p:sp>
      <p:sp>
        <p:nvSpPr>
          <p:cNvPr id="34" name="Text 30"/>
          <p:cNvSpPr/>
          <p:nvPr/>
        </p:nvSpPr>
        <p:spPr>
          <a:xfrm>
            <a:off x="10076688" y="3767328"/>
            <a:ext cx="1133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Totales</a:t>
            </a:r>
            <a:endParaRPr lang="en-US" sz="850" dirty="0"/>
          </a:p>
        </p:txBody>
      </p:sp>
      <p:sp>
        <p:nvSpPr>
          <p:cNvPr id="35" name="Shape 31"/>
          <p:cNvSpPr/>
          <p:nvPr/>
        </p:nvSpPr>
        <p:spPr>
          <a:xfrm>
            <a:off x="7571232" y="4361688"/>
            <a:ext cx="91440" cy="91440"/>
          </a:xfrm>
          <a:prstGeom prst="ellipse">
            <a:avLst/>
          </a:prstGeom>
          <a:solidFill>
            <a:srgbClr val="001391"/>
          </a:solidFill>
          <a:ln w="12700">
            <a:solidFill>
              <a:srgbClr val="001391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7717536" y="4315968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0E4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Publicaciones del período: 35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7571232" y="4745736"/>
            <a:ext cx="91440" cy="91440"/>
          </a:xfrm>
          <a:prstGeom prst="ellipse">
            <a:avLst/>
          </a:prstGeom>
          <a:solidFill>
            <a:srgbClr val="85C8FF"/>
          </a:solidFill>
          <a:ln w="12700">
            <a:solidFill>
              <a:srgbClr val="85C8FF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7717536" y="4700016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0E4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Período anterior: 31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7571232" y="5129784"/>
            <a:ext cx="91440" cy="91440"/>
          </a:xfrm>
          <a:prstGeom prst="ellipse">
            <a:avLst/>
          </a:prstGeom>
          <a:solidFill>
            <a:srgbClr val="8BE1E9"/>
          </a:solidFill>
          <a:ln w="12700">
            <a:solidFill>
              <a:srgbClr val="8BE1E9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7717536" y="5084064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0E4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Las notas de resultados y producto lideraron la lectura.</a:t>
            </a:r>
            <a:endParaRPr lang="en-US" sz="850" dirty="0"/>
          </a:p>
        </p:txBody>
      </p:sp>
      <p:sp>
        <p:nvSpPr>
          <p:cNvPr id="41" name="Text 37"/>
          <p:cNvSpPr/>
          <p:nvPr/>
        </p:nvSpPr>
        <p:spPr>
          <a:xfrm>
            <a:off x="658368" y="6419088"/>
            <a:ext cx="10844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El canal pull ayuda a identificar profundidad de lectura, no solo volumen de impactos.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reporting_comms_internas/reporting_comms_internas/assets/brand/bbva_logo_blu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27080" y="182880"/>
            <a:ext cx="621792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25603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AGENDA Y CAMPAÑAS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512064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Hitos destacados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66928" y="1298448"/>
            <a:ext cx="3200400" cy="45720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13232" y="1444752"/>
            <a:ext cx="2907792" cy="1700784"/>
          </a:xfrm>
          <a:prstGeom prst="roundRect">
            <a:avLst>
              <a:gd name="adj" fmla="val 2151"/>
            </a:avLst>
          </a:prstGeom>
          <a:solidFill>
            <a:srgbClr val="EEF3F7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96112" y="2185416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Asset visual pendiente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31520" y="332841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2026-03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49808" y="3922776"/>
            <a:ext cx="91440" cy="91440"/>
          </a:xfrm>
          <a:prstGeom prst="ellipse">
            <a:avLst/>
          </a:prstGeom>
          <a:solidFill>
            <a:srgbClr val="001391"/>
          </a:solidFill>
          <a:ln w="12700">
            <a:solidFill>
              <a:srgbClr val="00139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" y="3877056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060E4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Lanzamiento de campaña interna de eficiencia.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731520" y="5440680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2026-03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334256" y="1298448"/>
            <a:ext cx="3200400" cy="45720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80560" y="1444752"/>
            <a:ext cx="2907792" cy="1700784"/>
          </a:xfrm>
          <a:prstGeom prst="roundRect">
            <a:avLst>
              <a:gd name="adj" fmla="val 2151"/>
            </a:avLst>
          </a:prstGeom>
          <a:solidFill>
            <a:srgbClr val="EEF3F7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63440" y="2185416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Asset visual pendiente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498848" y="332841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2026-03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4517136" y="3922776"/>
            <a:ext cx="91440" cy="91440"/>
          </a:xfrm>
          <a:prstGeom prst="ellipse">
            <a:avLst/>
          </a:prstGeom>
          <a:solidFill>
            <a:srgbClr val="001391"/>
          </a:solidFill>
          <a:ln w="12700">
            <a:solidFill>
              <a:srgbClr val="00139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63440" y="3877056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060E4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Implementación de nuevo formato de newsletter.</a:t>
            </a:r>
            <a:endParaRPr lang="en-US" sz="820" dirty="0"/>
          </a:p>
        </p:txBody>
      </p:sp>
      <p:sp>
        <p:nvSpPr>
          <p:cNvPr id="18" name="Text 15"/>
          <p:cNvSpPr/>
          <p:nvPr/>
        </p:nvSpPr>
        <p:spPr>
          <a:xfrm>
            <a:off x="4498848" y="5440680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2026-03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58368" y="6419088"/>
            <a:ext cx="10844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Los hitos suman contexto de gestión más allá de las métricas de volumen y performance.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reporting_comms_internas/reporting_comms_internas/assets/brand/bbva_logo_blu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27080" y="182880"/>
            <a:ext cx="621792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25603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ACTIVACIONES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66928" y="512064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Eventos y participación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66928" y="1298448"/>
            <a:ext cx="16002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66928" y="1298448"/>
            <a:ext cx="1600200" cy="64008"/>
          </a:xfrm>
          <a:prstGeom prst="rect">
            <a:avLst/>
          </a:prstGeom>
          <a:solidFill>
            <a:srgbClr val="85C8FF"/>
          </a:solidFill>
          <a:ln w="12700">
            <a:solidFill>
              <a:srgbClr val="85C8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4944" y="1408176"/>
            <a:ext cx="1344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Eventos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94944" y="1572768"/>
            <a:ext cx="1344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4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94944" y="1956816"/>
            <a:ext cx="1344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Período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304288" y="1298448"/>
            <a:ext cx="178308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304288" y="1298448"/>
            <a:ext cx="1783080" cy="64008"/>
          </a:xfrm>
          <a:prstGeom prst="rect">
            <a:avLst/>
          </a:prstGeom>
          <a:solidFill>
            <a:srgbClr val="8BE1E9"/>
          </a:solidFill>
          <a:ln w="12700">
            <a:solidFill>
              <a:srgbClr val="8BE1E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432304" y="1408176"/>
            <a:ext cx="1527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Participaciones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432304" y="1572768"/>
            <a:ext cx="1527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139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620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2432304" y="1956816"/>
            <a:ext cx="1527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Total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66928" y="2377440"/>
            <a:ext cx="6656832" cy="3529584"/>
          </a:xfrm>
          <a:prstGeom prst="roundRect">
            <a:avLst>
              <a:gd name="adj" fmla="val 1554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6928" y="2377440"/>
            <a:ext cx="6656832" cy="530352"/>
          </a:xfrm>
          <a:prstGeom prst="roundRect">
            <a:avLst>
              <a:gd name="adj" fmla="val 10345"/>
            </a:avLst>
          </a:prstGeom>
          <a:solidFill>
            <a:srgbClr val="001391"/>
          </a:solidFill>
          <a:ln w="12700">
            <a:solidFill>
              <a:srgbClr val="00139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" y="2478024"/>
            <a:ext cx="63276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DETALLE DE EVENTOS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31520" y="2651760"/>
            <a:ext cx="63276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(participaciones por acción)</a:t>
            </a:r>
            <a:endParaRPr lang="en-US" sz="75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841248" y="2852928"/>
          <a:ext cx="43434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Text 16"/>
          <p:cNvSpPr/>
          <p:nvPr/>
        </p:nvSpPr>
        <p:spPr>
          <a:xfrm>
            <a:off x="5440680" y="29260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060E4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1. Townhall — 240</a:t>
            </a:r>
            <a:endParaRPr lang="en-US" sz="840" dirty="0"/>
          </a:p>
        </p:txBody>
      </p:sp>
      <p:sp>
        <p:nvSpPr>
          <p:cNvPr id="21" name="Text 17"/>
          <p:cNvSpPr/>
          <p:nvPr/>
        </p:nvSpPr>
        <p:spPr>
          <a:xfrm>
            <a:off x="5440680" y="334670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060E4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2. Capacitación — 180</a:t>
            </a:r>
            <a:endParaRPr lang="en-US" sz="840" dirty="0"/>
          </a:p>
        </p:txBody>
      </p:sp>
      <p:sp>
        <p:nvSpPr>
          <p:cNvPr id="22" name="Text 18"/>
          <p:cNvSpPr/>
          <p:nvPr/>
        </p:nvSpPr>
        <p:spPr>
          <a:xfrm>
            <a:off x="5440680" y="376732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060E4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3. Workshop — 120</a:t>
            </a:r>
            <a:endParaRPr lang="en-US" sz="840" dirty="0"/>
          </a:p>
        </p:txBody>
      </p:sp>
      <p:sp>
        <p:nvSpPr>
          <p:cNvPr id="23" name="Text 19"/>
          <p:cNvSpPr/>
          <p:nvPr/>
        </p:nvSpPr>
        <p:spPr>
          <a:xfrm>
            <a:off x="5440680" y="41879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060E4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4. Comunidad — 80</a:t>
            </a:r>
            <a:endParaRPr lang="en-US" sz="840" dirty="0"/>
          </a:p>
        </p:txBody>
      </p:sp>
      <p:sp>
        <p:nvSpPr>
          <p:cNvPr id="24" name="Shape 20"/>
          <p:cNvSpPr/>
          <p:nvPr/>
        </p:nvSpPr>
        <p:spPr>
          <a:xfrm>
            <a:off x="7388352" y="1298448"/>
            <a:ext cx="4187952" cy="4608576"/>
          </a:xfrm>
          <a:prstGeom prst="roundRect">
            <a:avLst>
              <a:gd name="adj" fmla="val 1310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626096" y="1591056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139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Conclusión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7626096" y="187452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0E46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La agenda de eventos acompañó los objetivos del trimestre.</a:t>
            </a:r>
            <a:endParaRPr lang="en-US" sz="1700" dirty="0"/>
          </a:p>
        </p:txBody>
      </p:sp>
      <p:sp>
        <p:nvSpPr>
          <p:cNvPr id="27" name="Shape 23"/>
          <p:cNvSpPr/>
          <p:nvPr/>
        </p:nvSpPr>
        <p:spPr>
          <a:xfrm>
            <a:off x="7626096" y="3172968"/>
            <a:ext cx="91440" cy="91440"/>
          </a:xfrm>
          <a:prstGeom prst="ellipse">
            <a:avLst/>
          </a:prstGeom>
          <a:solidFill>
            <a:srgbClr val="001391"/>
          </a:solidFill>
          <a:ln w="12700">
            <a:solidFill>
              <a:srgbClr val="001391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772400" y="3127248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0E4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Eventos del período: 4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7626096" y="3611880"/>
            <a:ext cx="91440" cy="91440"/>
          </a:xfrm>
          <a:prstGeom prst="ellipse">
            <a:avLst/>
          </a:prstGeom>
          <a:solidFill>
            <a:srgbClr val="85C8FF"/>
          </a:solidFill>
          <a:ln w="12700">
            <a:solidFill>
              <a:srgbClr val="85C8F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772400" y="3566160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0E4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Participaciones: 620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7626096" y="4050792"/>
            <a:ext cx="91440" cy="91440"/>
          </a:xfrm>
          <a:prstGeom prst="ellipse">
            <a:avLst/>
          </a:prstGeom>
          <a:solidFill>
            <a:srgbClr val="8BE1E9"/>
          </a:solidFill>
          <a:ln w="12700">
            <a:solidFill>
              <a:srgbClr val="8BE1E9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7772400" y="4005072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0E4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Los eventos internos sostuvieron alcance y engagement.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658368" y="6419088"/>
            <a:ext cx="10844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6536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El módulo de eventos funciona tanto con datos completos como con una versión elegante sin desglose.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13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reporting_comms_internas/reporting_comms_internas/assets/brand/bbva_logo_whi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27080" y="182880"/>
            <a:ext cx="621792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7498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Claves del período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658368" y="1600200"/>
            <a:ext cx="10149840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87552" y="2039112"/>
            <a:ext cx="91440" cy="91440"/>
          </a:xfrm>
          <a:prstGeom prst="ellipse">
            <a:avLst/>
          </a:prstGeom>
          <a:solidFill>
            <a:srgbClr val="001391"/>
          </a:solidFill>
          <a:ln w="12700">
            <a:solidFill>
              <a:srgbClr val="00139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33856" y="1993392"/>
            <a:ext cx="9180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0E4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Mejoró el volumen push con foco en prioridades.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987552" y="2697480"/>
            <a:ext cx="91440" cy="91440"/>
          </a:xfrm>
          <a:prstGeom prst="ellipse">
            <a:avLst/>
          </a:prstGeom>
          <a:solidFill>
            <a:srgbClr val="85C8FF"/>
          </a:solidFill>
          <a:ln w="12700">
            <a:solidFill>
              <a:srgbClr val="85C8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33856" y="2651760"/>
            <a:ext cx="9180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0E4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 lectura pull se mantuvo estable y relevante.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87552" y="3355848"/>
            <a:ext cx="91440" cy="91440"/>
          </a:xfrm>
          <a:prstGeom prst="ellipse">
            <a:avLst/>
          </a:prstGeom>
          <a:solidFill>
            <a:srgbClr val="8BE1E9"/>
          </a:solidFill>
          <a:ln w="12700">
            <a:solidFill>
              <a:srgbClr val="8BE1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33856" y="3310128"/>
            <a:ext cx="9180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0E4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 estrategia de contenidos se sostuvo consistente.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94944" y="629107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Reporte automatizado con lineamientos visuales BBVA.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urce Serif 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BBVA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Comunicaciones Internas - Mar 2026</dc:title>
  <dc:subject>Informe de gestión</dc:subject>
  <dc:creator>OpenAI</dc:creator>
  <cp:lastModifiedBy>OpenAI</cp:lastModifiedBy>
  <cp:revision>1</cp:revision>
  <dcterms:created xsi:type="dcterms:W3CDTF">2026-04-20T12:48:32Z</dcterms:created>
  <dcterms:modified xsi:type="dcterms:W3CDTF">2026-04-20T12:48:32Z</dcterms:modified>
</cp:coreProperties>
</file>